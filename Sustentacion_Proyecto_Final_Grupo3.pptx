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13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4114800" cy="36576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850" b="1">
                <a:solidFill>
                  <a:srgbClr val="019DF4"/>
                </a:solidFill>
              </a:defRPr>
            </a:pPr>
            <a:r>
              <a:t>●  TELEFÓNICA DEL PERÚ  |  RED DE ACCESO ÓPTICO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ODF TRACKER</a:t>
            </a:r>
          </a:p>
          <a:p>
            <a:pPr>
              <a:defRPr sz="2100" b="1">
                <a:solidFill>
                  <a:srgbClr val="019DF4"/>
                </a:solidFill>
              </a:defRPr>
            </a:pPr>
            <a:r>
              <a:t>Sistema de Inventario Digital y Gobernanza de Fibra Óptica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Arquitectura de Software Empresarial: MVC  |  TDD  |  DAO  |  SOLID  |  OWASP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4754880" cy="18288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950" b="1">
                <a:solidFill>
                  <a:srgbClr val="019DF4"/>
                </a:solidFill>
              </a:defRPr>
            </a:pPr>
            <a:r>
              <a:t>INTEGRANTES DEL EQUIPO (GRUPO 3):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Rodrigo Layme Ureta (U22244493)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Kevin Smith Cusi Espinoza (U23220459)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Diana Greis Aguado Pacompia (U23210141)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4937760" cy="18288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950" b="1">
                <a:solidFill>
                  <a:srgbClr val="019DF4"/>
                </a:solidFill>
              </a:defRPr>
            </a:pPr>
            <a:r>
              <a:t>DATOS INSTITUCIONALES Y EVALUACIÓN: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</a:rPr>
              <a:t>Docente Asesor: </a:t>
            </a:r>
            <a:r>
              <a:rPr b="1" sz="950">
                <a:solidFill>
                  <a:srgbClr val="FFFFFF"/>
                </a:solidFill>
              </a:rPr>
              <a:t>Ing. Rudy Chapoñan Camarena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</a:rPr>
              <a:t>Asignatura: </a:t>
            </a:r>
            <a:r>
              <a:rPr b="1" sz="950">
                <a:solidFill>
                  <a:srgbClr val="FFFFFF"/>
                </a:solidFill>
              </a:rPr>
              <a:t>Curso Integrador I: Sistemas Software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</a:rPr>
              <a:t>Universidad: </a:t>
            </a:r>
            <a:r>
              <a:rPr b="1" sz="950">
                <a:solidFill>
                  <a:srgbClr val="FFFFFF"/>
                </a:solidFill>
              </a:rPr>
              <a:t>Universidad Tecnológica del Perú (UTP)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Contexto del Negocio y Problemática Operativa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035040" cy="1508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●  PLANILLAS EXCEL DESCENTRALIZADAS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Las asignaciones de fibra se registraban en libros locales sin sincronización, provocando duplicidades y pérdida de datos ante caídas de 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6035040" cy="1508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●  COLISIONES DE HILOS ÓPTICOS EN CENTRALES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Cuadrillas distintas asignaban el mismo hilo físico simultáneamente, generando cortes imprevistos y penalizaciones regulatorias de OSIPTEL.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6035040" cy="1508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00" b="1">
                <a:solidFill>
                  <a:srgbClr val="019DF4"/>
                </a:solidFill>
              </a:defRPr>
            </a:pPr>
            <a:r>
              <a:t>●  CEGUERA OPERATIVA EN EL NOC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Inexistencia de semáforos de saturación (&lt;80%, 80-90%, &gt;90%) en racks de 19", impidiendo la planificación de ampliación de infraestructura.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234440"/>
            <a:ext cx="4389120" cy="1508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45 MINUTOS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Tiempo promedio que demoraba un técnico en campo en verificar si un puerto libre estaba realmente disponible o ya empalmado.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880360"/>
            <a:ext cx="4389120" cy="1508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28% DISCREPANCIAS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Tasa histórica de error e inconsistencia entre las planillas Excel compartidas y el cableado físico en bastidores ODF.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526280"/>
            <a:ext cx="4389120" cy="1508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800" b="1">
                <a:solidFill>
                  <a:srgbClr val="019DF4"/>
                </a:solidFill>
              </a:defRPr>
            </a:pPr>
            <a:r>
              <a:t>0% TRAZABILIDAD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Cero auditoría previa: imposibilidad de identificar qué contratista o usuario modificó un empalme óptico.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Objetivos del Proyecto y Alcance de la 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29000" cy="484632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950" b="1">
                <a:solidFill>
                  <a:srgbClr val="019DF4"/>
                </a:solidFill>
              </a:defRPr>
            </a:pPr>
            <a:r>
              <a:t>PILAR 1: GEMELO DIGITAL ODF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Digitalización Completa 19"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• Reemplazar planillas manuales por una grilla interactiva reactiva.</a:t>
            </a:r>
            <a:br/>
            <a:r>
              <a:t>• Mapeo fiel de bastidores de 48, 96 y 144 puertos.</a:t>
            </a:r>
            <a:br/>
            <a:r>
              <a:t>• Código cromático oficial de conectores (ITU-T G.652D).</a:t>
            </a:r>
            <a:br/>
            <a:r>
              <a:t>• Vista topológica jerárquica de Sedes, Racks y ODFs.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484632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950" b="1">
                <a:solidFill>
                  <a:srgbClr val="22C55E"/>
                </a:solidFill>
              </a:defRPr>
            </a:pPr>
            <a:r>
              <a:t>PILAR 2: MOTOR TRANSACCIONAL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Transacciones ACID &amp; Cero Colisión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• Bloqueos pesimistas con SELECT ... FOR UPDATE en MySQL.</a:t>
            </a:r>
            <a:br/>
            <a:r>
              <a:t>• Atomicidad con beginTransaction(), commit() y rollBack().</a:t>
            </a:r>
            <a:br/>
            <a:r>
              <a:t>• Imposibilidad por software de asignar un mismo hilo a dos puertos.</a:t>
            </a:r>
            <a:br/>
            <a:r>
              <a:t>• Restricción UNIQUE uq_cable_hilo que blinda la integridad física.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29000" cy="484632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PILAR 3: GOBERNANZA &amp; SRE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Seguridad RBAC y Observabilidad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• Control de acceso por roles: Admin, Supervisor y Técnico.</a:t>
            </a:r>
            <a:br/>
            <a:r>
              <a:t>• Protección anti-CSRF, contraseñas BCrypt y Rate Limiting.</a:t>
            </a:r>
            <a:br/>
            <a:r>
              <a:t>• Health check operacional (/api/health.php) para monitoreo sintético.</a:t>
            </a:r>
            <a:br/>
            <a:r>
              <a:t>• Bitácora forense de auditoría inmutable disparada por triggers.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Arquitectura Multicapa MVC y Capas DAO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58368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a_arquitectura_mvc_d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43737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234440"/>
            <a:ext cx="393192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019DF4"/>
                </a:solidFill>
              </a:defRPr>
            </a:pPr>
            <a:r>
              <a:t>1. ENTRADA Y PRESENTACIÓN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Front Controller en public/index.php y APIs en public/api/.</a:t>
            </a:r>
            <a:br/>
            <a:r>
              <a:t>• Vistas modulares en views/ y renderizado asíncrono Fetch.</a:t>
            </a:r>
            <a:br/>
            <a:r>
              <a:t>• Aislamiento por .htaccess de archivos confidenciales (.env, sql, logs).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926080"/>
            <a:ext cx="393192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22C55E"/>
                </a:solidFill>
              </a:defRPr>
            </a:pPr>
            <a:r>
              <a:t>2. SERVICIOS DE DOMINIO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PuertoBatchImportService: Ingesta masiva y validación atómica.</a:t>
            </a:r>
            <a:br/>
            <a:r>
              <a:t>• StatisticsService: Métricas de capacidad y cálculo de semáforos.</a:t>
            </a:r>
            <a:br/>
            <a:r>
              <a:t>• InfraestructuraService &amp; UsuarioService: Reglas de negocio puras.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617720"/>
            <a:ext cx="393192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3. CONTRATOS DAO &amp; PERSISTENCIA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5 Interfaces DAO que desacoplan la lógica de la tecnología física.</a:t>
            </a:r>
            <a:br/>
            <a:r>
              <a:t>• Implementaciones MySql*Dao con sentencias preparadas PDO.</a:t>
            </a:r>
            <a:br/>
            <a:r>
              <a:t>• Motor MySQL InnoDB en 3FN con triggers de auditoría forense.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Diseño Orientado a Objetos: Diagrama de Clases UML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58368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a_clases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43737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234440"/>
            <a:ext cx="393192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22C55E"/>
                </a:solidFill>
              </a:defRPr>
            </a:pPr>
            <a:r>
              <a:t>PATRÓN SINGLETON (CORE)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DatabaseConnection garantiza una única instancia de PDO compartida.</a:t>
            </a:r>
            <a:br/>
            <a:r>
              <a:t>• Optimiza el uso de conexiones concurrentes en el motor MySQL.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926080"/>
            <a:ext cx="393192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PATRÓN STRATEGY &amp; FACTORY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SpreadsheetReaderInterface desacopla la lectura de planillas.</a:t>
            </a:r>
            <a:br/>
            <a:r>
              <a:t>• ReaderFactory entrega CsvReader o XlsxReader en tiempo de ejecución.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617720"/>
            <a:ext cx="393192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019DF4"/>
                </a:solidFill>
              </a:defRPr>
            </a:pPr>
            <a:r>
              <a:t>PATRÓN POLICY (RBAC) &amp; DAOS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PolicyFactory evalúa roles (Admin, Supervisor, Técnico).</a:t>
            </a:r>
            <a:br/>
            <a:r>
              <a:t>• 5 Contratos DAO implementan Inversión de Dependencias (DIP).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Principios SOLID e Inversión de Dependencias (DIP)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67512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ptura_codigo_dao_d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52881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23444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019DF4"/>
                </a:solidFill>
              </a:defRPr>
            </a:pPr>
            <a:r>
              <a:t>INVERSIÓN DE DEPENDENCIAS (DIP)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Los servicios de dominio no instancian clases MySQL concretas.</a:t>
            </a:r>
            <a:br/>
            <a:r>
              <a:t>• Reciben PuertoDaoInterface vía inyección en el constructor.</a:t>
            </a:r>
            <a:br/>
            <a:r>
              <a:t>• Permite reemplazar el motor de base de datos sin alterar el negocio.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2608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22C55E"/>
                </a:solidFill>
              </a:defRPr>
            </a:pPr>
            <a:r>
              <a:t>ATOMICIDAD TRANSACCIONAL ACID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beginTransaction() aisla la modificación del conector óptico.</a:t>
            </a:r>
            <a:br/>
            <a:r>
              <a:t>• Ante cualquier falla en el empalme se ejecuta rollBack().</a:t>
            </a:r>
            <a:br/>
            <a:r>
              <a:t>• Impide que queden puertos huérfanos o a medio registrar.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61772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SEGREGACIÓN DE INTERFACES (ISP)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Interfaces específicas: PuertoDao, OdfDao, SiteDao, CableDao.</a:t>
            </a:r>
            <a:br/>
            <a:r>
              <a:t>• Cero métodos innecesarios forzados en las clases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Patrón Strategy para Ingesta Masiva de Puertos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67512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ptura_codigo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52881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23444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PRINCIPIO ABIERTO / CERRADO (OCP)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El importador está cerrado a la modificación pero abierto a la extensión.</a:t>
            </a:r>
            <a:br/>
            <a:r>
              <a:t>• Permite añadir formatos XML o JSON sin alterar la lógica de negocio.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2608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019DF4"/>
                </a:solidFill>
              </a:defRPr>
            </a:pPr>
            <a:r>
              <a:t>FACTORÍA POLIMÓRFICA EN RUNTIME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ReaderFactory inspecciona la extensión del archivo subido.</a:t>
            </a:r>
            <a:br/>
            <a:r>
              <a:t>• Instancia dinámicamente CsvReader o XlsxReader.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61772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50" b="1">
                <a:solidFill>
                  <a:srgbClr val="22C55E"/>
                </a:solidFill>
              </a:defRPr>
            </a:pPr>
            <a:r>
              <a:t>VALIDACIÓN ATÓMICA DE HILOS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Verifica que los hilos no colisionen con otros bastidores del SITE.</a:t>
            </a:r>
            <a:br/>
            <a:r>
              <a:t>• Ingesta masiva de 144 puertos ejecutada en un solo bloque atómico.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Calidad de Software: Suite Automatizada TDD (PHPUnit)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76656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ptura_codigo_tdd_php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1234440"/>
            <a:ext cx="3749039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32 / 32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PRUEBAS APROBADAS (100%)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Cobertura completa sobre DAOs, Services, Policies y Seguridad.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26080"/>
            <a:ext cx="3749039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200" b="1">
                <a:solidFill>
                  <a:srgbClr val="019DF4"/>
                </a:solidFill>
              </a:defRPr>
            </a:pPr>
            <a:r>
              <a:t>128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ASERCIONES ACTIVAS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Verificación rigurosa de atomicidad transaccional y bloqueos pesimistas.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617720"/>
            <a:ext cx="3749039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74 ms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TIEMPO DE EJECUCIÓN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Aislamiento con bases en memoria SQLite; pruebas ultrarrápidas sin latencia.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Seguridad Defensiva en Profundidad (OWASP Top 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67512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ptura_codigo_segur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52881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23444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CERO INYECCIÓN SQL (A03:2021)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Consultas preparadas forzosas mediante PDO bindValue().</a:t>
            </a:r>
            <a:br/>
            <a:r>
              <a:t>• Emulación de sentencias desactivada (ATTR_EMULATE_PREPARES=false).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2608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019DF4"/>
                </a:solidFill>
              </a:defRPr>
            </a:pPr>
            <a:r>
              <a:t>PROTECCIÓN ANTI-CSRF CRIPTOGRÁFICA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Tokens pseudoaleatorios CSPRNG generados con random_bytes(32).</a:t>
            </a:r>
            <a:br/>
            <a:r>
              <a:t>• Validación con hash_equals() inmune a ataques de tiempo (Timing Attacks).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61772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RATE LIMITING Y HARDENING SESIONES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Bloqueo tras 5 intentos fallidos en login (HTTP 429 Too Many Requests).</a:t>
            </a:r>
            <a:br/>
            <a:r>
              <a:t>• Cookies HttpOnly, SameSite=Strict y cabeceras anti-clickjacking en .htaccess.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Interfaces de Usuario (UX/UI) y Experiencia Operativa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290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19DF4"/>
                </a:solidFill>
              </a:defRPr>
            </a:pPr>
            <a:r>
              <a:t>WF-01: LOGIN SEGURO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Autenticación corporativa con hash BCrypt, token anti-CSRF y rate limiting.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22C55E"/>
                </a:solidFill>
              </a:defRPr>
            </a:pPr>
            <a:r>
              <a:t>WF-02: DASHBOARD &amp; ODF 19"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Grilla interactiva fiel a chasis de 48 puertos con semáforos cromáticos ITU-T.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290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WF-03: MODAL DE EMPALME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Edición asíncrona de puertos, asignación de hilo y registro de orden técnica.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34290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019DF4"/>
                </a:solidFill>
              </a:defRPr>
            </a:pPr>
            <a:r>
              <a:t>WF-04: TOPOLOGÍA DE SEDES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Navegación jerárquica por departamentos, distritos y racks en centrales.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94760"/>
            <a:ext cx="34290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22C55E"/>
                </a:solidFill>
              </a:defRPr>
            </a:pPr>
            <a:r>
              <a:t>WF-05: CARGA MASIVA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Herramienta interactiva de ingesta CSV/XLSX con reporte de incidencias por fila.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94760"/>
            <a:ext cx="34290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WF-06: AUDITORÍA &amp; RBAC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Gestión de roles y bitácora forense de cambios con usuario y timestamp.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Gestión del Código: Control de Versiones Git y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67512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ptura_git_control_vers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52881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23444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019DF4"/>
                </a:solidFill>
              </a:defRPr>
            </a:pPr>
            <a:r>
              <a:t>ESTRATEGIA GITFLOW SIMPLIFICADO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Rama main: Código de producción validado con tag v1.0.0.</a:t>
            </a:r>
            <a:br/>
            <a:r>
              <a:t>• Rama develop: Integración continua y ejecución de suite TDD.</a:t>
            </a:r>
            <a:br/>
            <a:r>
              <a:t>• Ramas feature/*: Desarrollo modular aislado.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2608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CONVENTIONAL COMMITS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Mensajes estandarizados (feat, fix, refactor, test, sec).</a:t>
            </a:r>
            <a:br/>
            <a:r>
              <a:t>• Cada commit está estrictamente asociado a los paquetes de la EDT.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61772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EVIDENCIA DE TRABAJO COLABORATIVO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Historial transparente con autoría distribuida del equipo.</a:t>
            </a:r>
            <a:br/>
            <a:r>
              <a:t>• Pull requests con revisión por pares antes de cada merge.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Documentación Viva: PHPDoc / Javadoc y Anexos Técnicos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675120" cy="493776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ptura_phpdoc_ide_tool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528816" cy="4791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23444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019DF4"/>
                </a:solidFill>
              </a:defRPr>
            </a:pPr>
            <a:r>
              <a:t>ESTÁNDAR FORMAL JAVADOC / PHPDOC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Tipado estricto declare(strict_types=1) en todo el código.</a:t>
            </a:r>
            <a:br/>
            <a:r>
              <a:t>• Bloques docstring estandarizados con @param, @return y @throws.</a:t>
            </a:r>
            <a:br/>
            <a:r>
              <a:t>• Asistencia contextual de tipos e inspección en hover en el 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2608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ANEXO A: MANUAL DEVOPS &amp; APIS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Guía de despliegue, configuración .env y arquitectura de carpetas.</a:t>
            </a:r>
            <a:br/>
            <a:r>
              <a:t>• Catálogo formal de endpoints RESTful y health check operacional.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617720"/>
            <a:ext cx="3840480" cy="160020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ANEXO B: DICCIONARIO DE CLASES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Especificación técnica exhaustiva de contratos DAO y servicios.</a:t>
            </a:r>
            <a:br/>
            <a:r>
              <a:t>• Documentación de patrones Strategy, Factory, Policy y Entidades.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19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515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850" b="1">
                <a:solidFill>
                  <a:srgbClr val="019DF4"/>
                </a:solidFill>
                <a:latin typeface="Arial"/>
              </a:defRPr>
            </a:pPr>
            <a:r>
              <a:t>●  SISTEMA DE INVENTARIO DIGITAL DE ODF | TELEFÓNICA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Conclusiones e Impacto en Telefónica del Perú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55664"/>
            <a:ext cx="914400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UTP — Curso Integrador I: Sistemas Software | Telefónica NOC Design System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55664"/>
            <a:ext cx="118872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>
              <a:defRPr sz="850" b="1">
                <a:solidFill>
                  <a:srgbClr val="019DF4"/>
                </a:solidFill>
                <a:latin typeface="Arial"/>
              </a:defRPr>
            </a:pPr>
            <a: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100% ELIMINACIÓN DE COLISIONES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El control de concurrencia y las transacciones ACID anulan la asignación simultánea de un mismo hilo en distintos puertos.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2578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019DF4"/>
                </a:solidFill>
              </a:defRPr>
            </a:pPr>
            <a:r>
              <a:t>85% REDUCCIÓN DE TIEMPOS DE CONSULTA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Los técnicos en central verifican la disponibilidad de un distribuidor ODF en menos de 10 segundos desde cualquier navegador.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100% TRAZABILIDAD FORENSE INMUTABLE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Cada modificación de estado y asignación de empalme queda auditada con ID de usuario, fecha y orden de trabajo técnica.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257800" cy="2240280"/>
          </a:xfrm>
          <a:prstGeom prst="roundRect">
            <a:avLst/>
          </a:prstGeom>
          <a:solidFill>
            <a:srgbClr val="0A162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ARQUITECTURA DESACOPLADA Y ESCALABLE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El diseño con MVC, DAO, Strategy y SOLID permite migrar o escalar la infraestructura sin impactar las reglas de negocio.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13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6240" y="1371600"/>
            <a:ext cx="3749039" cy="36576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019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850" b="1">
                <a:solidFill>
                  <a:srgbClr val="019DF4"/>
                </a:solidFill>
              </a:defRPr>
            </a:pPr>
            <a:r>
              <a:t>CURSO INTEGRADOR I: SISTEMAS SOFTWARE — UTP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¡Muchas Gracias por su Atención!</a:t>
            </a:r>
          </a:p>
          <a:p>
            <a:pPr algn="ctr">
              <a:spcBef>
                <a:spcPts val="1000"/>
              </a:spcBef>
              <a:defRPr sz="1800">
                <a:solidFill>
                  <a:srgbClr val="019DF4"/>
                </a:solidFill>
              </a:defRPr>
            </a:pPr>
            <a:r>
              <a:t>Sistema de Inventario Digital de ODF — Telefónica del Perú</a:t>
            </a:r>
          </a:p>
          <a:p>
            <a:pPr algn="ctr">
              <a:spcBef>
                <a:spcPts val="1600"/>
              </a:spcBef>
              <a:defRPr sz="1300" b="1">
                <a:solidFill>
                  <a:srgbClr val="22C55E"/>
                </a:solidFill>
              </a:defRPr>
            </a:pPr>
            <a:r>
              <a:t>●  RONDA DE PREGUNTAS Y SUSTENTACIÓN ORAL  ●</a:t>
            </a:r>
          </a:p>
          <a:p>
            <a:pPr algn="ctr">
              <a:spcBef>
                <a:spcPts val="1400"/>
              </a:spcBef>
              <a:defRPr sz="1050">
                <a:solidFill>
                  <a:srgbClr val="94A3B8"/>
                </a:solidFill>
              </a:defRPr>
            </a:pPr>
            <a:r>
              <a:t>Rodrigo Layme Ureta  |  Kevin Smith Cusi Espinoza  |  Diana Greis Aguado Pacompia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